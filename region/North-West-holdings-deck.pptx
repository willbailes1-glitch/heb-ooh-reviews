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notesMasterIdLst>
    <p:notesMasterId r:id="rId6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image" Target="../media/image-26-2.jpe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eg"/><Relationship Id="rId2" Type="http://schemas.openxmlformats.org/officeDocument/2006/relationships/image" Target="../media/image-35-2.jpe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e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eg"/><Relationship Id="rId2" Type="http://schemas.openxmlformats.org/officeDocument/2006/relationships/image" Target="../media/image-38-2.jpe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eg"/><Relationship Id="rId2" Type="http://schemas.openxmlformats.org/officeDocument/2006/relationships/image" Target="../media/image-39-2.jpe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eg"/><Relationship Id="rId2" Type="http://schemas.openxmlformats.org/officeDocument/2006/relationships/image" Target="../media/image-40-2.jpe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eg"/><Relationship Id="rId2" Type="http://schemas.openxmlformats.org/officeDocument/2006/relationships/image" Target="../media/image-41-2.jpe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eg"/><Relationship Id="rId2" Type="http://schemas.openxmlformats.org/officeDocument/2006/relationships/image" Target="../media/image-42-2.jpe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eg"/><Relationship Id="rId2" Type="http://schemas.openxmlformats.org/officeDocument/2006/relationships/image" Target="../media/image-43-2.jpeg"/><Relationship Id="rId3" Type="http://schemas.openxmlformats.org/officeDocument/2006/relationships/image" Target="../media/image-4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eg"/><Relationship Id="rId2" Type="http://schemas.openxmlformats.org/officeDocument/2006/relationships/image" Target="../media/image-44-2.jpe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eg"/><Relationship Id="rId2" Type="http://schemas.openxmlformats.org/officeDocument/2006/relationships/image" Target="../media/image-45-2.jpe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eg"/><Relationship Id="rId2" Type="http://schemas.openxmlformats.org/officeDocument/2006/relationships/image" Target="../media/image-46-2.jpeg"/><Relationship Id="rId3" Type="http://schemas.openxmlformats.org/officeDocument/2006/relationships/image" Target="../media/image-4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eg"/><Relationship Id="rId2" Type="http://schemas.openxmlformats.org/officeDocument/2006/relationships/image" Target="../media/image-47-2.jpe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eg"/><Relationship Id="rId2" Type="http://schemas.openxmlformats.org/officeDocument/2006/relationships/image" Target="../media/image-48-2.jpe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eg"/><Relationship Id="rId2" Type="http://schemas.openxmlformats.org/officeDocument/2006/relationships/image" Target="../media/image-49-2.jpe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eg"/><Relationship Id="rId2" Type="http://schemas.openxmlformats.org/officeDocument/2006/relationships/image" Target="../media/image-50-2.jpe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eg"/><Relationship Id="rId2" Type="http://schemas.openxmlformats.org/officeDocument/2006/relationships/image" Target="../media/image-51-2.jpe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eg"/><Relationship Id="rId2" Type="http://schemas.openxmlformats.org/officeDocument/2006/relationships/image" Target="../media/image-52-2.jpeg"/><Relationship Id="rId3" Type="http://schemas.openxmlformats.org/officeDocument/2006/relationships/image" Target="../media/image-5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eg"/><Relationship Id="rId2" Type="http://schemas.openxmlformats.org/officeDocument/2006/relationships/image" Target="../media/image-53-2.jpeg"/><Relationship Id="rId3" Type="http://schemas.openxmlformats.org/officeDocument/2006/relationships/image" Target="../media/image-5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eg"/><Relationship Id="rId2" Type="http://schemas.openxmlformats.org/officeDocument/2006/relationships/image" Target="../media/image-54-2.jpeg"/><Relationship Id="rId3" Type="http://schemas.openxmlformats.org/officeDocument/2006/relationships/image" Target="../media/image-5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eg"/><Relationship Id="rId2" Type="http://schemas.openxmlformats.org/officeDocument/2006/relationships/image" Target="../media/image-55-2.jpeg"/><Relationship Id="rId3" Type="http://schemas.openxmlformats.org/officeDocument/2006/relationships/image" Target="../media/image-5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eg"/><Relationship Id="rId2" Type="http://schemas.openxmlformats.org/officeDocument/2006/relationships/image" Target="../media/image-56-2.jpeg"/><Relationship Id="rId3" Type="http://schemas.openxmlformats.org/officeDocument/2006/relationships/image" Target="../media/image-5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eg"/><Relationship Id="rId2" Type="http://schemas.openxmlformats.org/officeDocument/2006/relationships/image" Target="../media/image-57-2.jpeg"/><Relationship Id="rId3" Type="http://schemas.openxmlformats.org/officeDocument/2006/relationships/image" Target="../media/image-5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eg"/><Relationship Id="rId2" Type="http://schemas.openxmlformats.org/officeDocument/2006/relationships/image" Target="../media/image-58-2.jpeg"/><Relationship Id="rId3" Type="http://schemas.openxmlformats.org/officeDocument/2006/relationships/image" Target="../media/image-5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eg"/><Relationship Id="rId2" Type="http://schemas.openxmlformats.org/officeDocument/2006/relationships/image" Target="../media/image-59-2.jpeg"/><Relationship Id="rId3" Type="http://schemas.openxmlformats.org/officeDocument/2006/relationships/image" Target="../media/image-5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e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e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e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e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e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e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eg"/><Relationship Id="rId2" Type="http://schemas.openxmlformats.org/officeDocument/2006/relationships/image" Target="../media/image-66-2.jpeg"/><Relationship Id="rId3" Type="http://schemas.openxmlformats.org/officeDocument/2006/relationships/image" Target="../media/image-6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68680"/>
            <a:ext cx="2468880" cy="802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74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22960" y="2788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OOH Current Holdings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D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contracted holdings · 56 in market now · prepared 9/15/2026 · H-E-B OOH Program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OOH Current Holdings Map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51560" cy="34175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53" y="1051560"/>
            <a:ext cx="10966045" cy="52120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6400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pin = in market now · Orange pin = starting soon · Purple pin = Unique OOH (wallscapes / transit) · Purple dashes = Bus Routes · Red pills = H-E-B stores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&amp; Impressions — North West Region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429768"/>
            <a:ext cx="1051560" cy="34175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060704"/>
            <a:ext cx="10936224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141732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2B2B2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572768"/>
            <a:ext cx="530352" cy="5303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5453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$450,045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914400" y="25511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PERIOD COMMITTED (IN-MARKET)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480560" y="141732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48056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1F3A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1572768"/>
            <a:ext cx="530352" cy="5303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54880" y="15453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22,878,502</a:t>
            </a:r>
            <a:endParaRPr lang="en-US" sz="3200" dirty="0"/>
          </a:p>
        </p:txBody>
      </p:sp>
      <p:sp>
        <p:nvSpPr>
          <p:cNvPr id="14" name="Text 9"/>
          <p:cNvSpPr/>
          <p:nvPr/>
        </p:nvSpPr>
        <p:spPr>
          <a:xfrm>
            <a:off x="4754880" y="25511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 / WEEK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8321040" y="141732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2104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1F3A9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0544" y="1572768"/>
            <a:ext cx="530352" cy="5303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95360" y="15453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$4.92</a:t>
            </a:r>
            <a:endParaRPr lang="en-US" sz="3200" dirty="0"/>
          </a:p>
        </p:txBody>
      </p:sp>
      <p:sp>
        <p:nvSpPr>
          <p:cNvPr id="19" name="Text 13"/>
          <p:cNvSpPr/>
          <p:nvPr/>
        </p:nvSpPr>
        <p:spPr>
          <a:xfrm>
            <a:off x="8595360" y="25511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CPM (4-WEEK)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40080" y="324612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080" y="32461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1E7B34"/>
          </a:solidFill>
          <a:ln/>
        </p:spPr>
      </p:sp>
      <p:sp>
        <p:nvSpPr>
          <p:cNvPr id="22" name="Text 16"/>
          <p:cNvSpPr/>
          <p:nvPr/>
        </p:nvSpPr>
        <p:spPr>
          <a:xfrm>
            <a:off x="914400" y="331927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$274,992</a:t>
            </a:r>
            <a:endParaRPr lang="en-US" sz="28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67912"/>
            <a:ext cx="3017520" cy="52806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4400" y="43799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BUDGET LEFT TO SPEND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4480560" y="3246120"/>
            <a:ext cx="74066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480560" y="32461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7B3FA0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3291840"/>
            <a:ext cx="2112264" cy="1508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86600" y="3374136"/>
            <a:ext cx="2331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46 Static Bulletins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17 Digital Bulletins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7086600" y="44165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MIX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9692640" y="337413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3200" dirty="0"/>
          </a:p>
        </p:txBody>
      </p:sp>
      <p:sp>
        <p:nvSpPr>
          <p:cNvPr id="31" name="Text 23"/>
          <p:cNvSpPr/>
          <p:nvPr/>
        </p:nvSpPr>
        <p:spPr>
          <a:xfrm>
            <a:off x="9692640" y="4251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 HOLDINGS · 56 IN MARKET · 7 STARTING SOON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640080" y="5394960"/>
            <a:ext cx="10936224" cy="566928"/>
          </a:xfrm>
          <a:prstGeom prst="roundRect">
            <a:avLst>
              <a:gd name="adj" fmla="val 14516"/>
            </a:avLst>
          </a:prstGeom>
          <a:solidFill>
            <a:srgbClr val="FBE9EC"/>
          </a:solidFill>
          <a:ln/>
        </p:spPr>
      </p:sp>
      <p:sp>
        <p:nvSpPr>
          <p:cNvPr id="33" name="Text 25"/>
          <p:cNvSpPr/>
          <p:nvPr/>
        </p:nvSpPr>
        <p:spPr>
          <a:xfrm>
            <a:off x="896112" y="53949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0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FY26 OOH budget: $2,222,000    ·    FY26 ends 11/1/2026    ·    program buys draw down what was left to spend ($856,512)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#5021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Hwy 121 NS 0.2mi W/O Legacy Dr F/W - 1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14'0"' x 48'0"'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3/28/2027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341,564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5.3 mi — H-E-B Plano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$13,080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#058L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Reiss Group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Hwy.380 EB, 1/10 mi east of FM 720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12/27/2026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217,000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8.5 mi — Hwy 380 and FM 423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$2,300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271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#1240R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Reiss Group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Preston Rd. NB, just s/o Hwy 121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12'' x 40''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12/27/2026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434,000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4.4 mi — H-E-B Plano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$8,600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#6782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SH 121 (Sam Rayburn Tollway) NS 0.56mi E/O Hillcrest Rd F/W - 1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1/31/2027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298,768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5.4 mi — H-E-B Plano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$14,940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#1012B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Eyes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LBJ Frwy n/l 1 mi e/o Beltline Rd.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12'' x 40''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12/27/2026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82,220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 mi — Irving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$4,002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44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#2527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SH-121 N/O FM 157, E/S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6/27/2027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220,168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0.5 mi — Mid Cities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$12,343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#1013A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Eyes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LBJ Frwy. (Interstate 635) n/l 0.7 mi. w/o N. MacArthur Blvd.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12'' x 40''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8/29/2027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294,625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0.7 mi — Irving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$3,788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44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#78883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Hwy 190 NS 0.5mi E/O Merritt Rd F/E - 1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5/23/2027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265,532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4.2 mi — Murphy (scheduled 7/22/2026)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$3,365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44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#78346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West Fwy (I-30) SS 0.6mi W/O Linkcrest F/W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48"'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5/23/2027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202,226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9.3 mi — Hudson Oaks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$3,500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448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#635L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R Media Services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I635 .4mi w/o Coit, .7mi w/o US75 (High 5)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5/23/2027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1,479,573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7.4 mi — H-E-B Plano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$5,000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44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#2_7953O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Outfront Media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LBJ (635) .5 Mi W/O Hillcrest S/S F/W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48"'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5/23/2027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1,378,437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7.3 mi — H-E-B Plano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$12,600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44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#003-390L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Reiss Group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NE Corner of Hwy 78 SB &amp; Ballard Ave.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16' x 32'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5/23/2027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195,300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0.6 mi — Murphy (scheduled 7/22/2026)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$2,500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271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#10652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HWY 183 E/S .1 MI N/O MOCKINGBIRD LANE - 10652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Southeast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6/8/2026 → 3/14/2027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582,320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8.9 mi — Irving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$6,568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#2_7166O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Outfront Media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LBJ (635) .2Mi W/O Plano Road N/S F/E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6/8/2026 → 6/6/2027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546,436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10.9 mi — H-E-B Plano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$7,000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#2_7954O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Outfront Media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Dallas North Tollway S/O Beltline E/S F/S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6/8/2026 → 6/6/2027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639,308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6.1 mi — H-E-B Plano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$19,500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44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#2_7956O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Outfront Media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Central (75) S/O LBJ Frwy E/S F/S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6/8/2026 → 6/6/2027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911,767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7.8 mi — H-E-B Plano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$13,000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44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#2_8098O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Outfront Media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I-30 (E.R.L.T.) W/O Haskell S/S F/W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6/8/2026 → 6/6/2027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540,280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14.8 mi — Irving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$5,000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27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#2_8319O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Outfront Media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I-35E .7Mi N/O Trinity Mills W/S F/N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6/22/2026 → 6/20/2027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736,122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4.5 mi — Irving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$4,000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271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#4_7860O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Outfront Media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Hwy 80 1.50mi E/O Beltline N/S F/E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10'' x 40''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6/22/2026 → 6/20/2027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289,424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12 mi — Rockwall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$2,500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27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#2465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W/S FM 195 AT STAN SCHL LP F/S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6/22/2026 → 6/17/2029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57,009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0.1 mi — Fort Hood Stan Schlueter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$1,250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45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#78898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Hwy 380 NS 0.1mi W/O Magnolia Blvd F/E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6/22/2026 → 6/20/2027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174,776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5.2 mi — Hwy 380 and FM 423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$3,540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271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TX-180244 (234)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Adkom (Arrington)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Hwy 80 562 feet E/O Reeder Rd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10'' x 40''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7/13/2026 → 10/4/2026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167,360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11.9 mi — Rockwall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$5,577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448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#6212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24310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Hwy 80 NS 0.3mi E/O FM 740 F/W - 1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10'' x 40''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7/4/2027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140,145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11.2 mi — Rockwall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$2,000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7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#2_7859O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Outfront Media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I-35E 285' N/O Highland Village Road E/S F/S **Flagman Unit - No Sharp Installs / Take-Downs**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48"'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7/13/2026 → 7/11/2027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503,687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11.5 mi — Irving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$4,050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#2_7904O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Outfront Media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3.7Mi N/O Mockingbird Lane E/S F/S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7/13/2026 → 7/11/2027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585,813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8.4 mi — Irving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$5,500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#2023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I-30 .5 MI E/O COOKS LN S/S - 2023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7/20/2026 → 3/28/2027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603,686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8.5 mi — Mid Cities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$4,599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27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#2_8432O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Outfront Media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D.N. Tollway S/O Lovers Lane W/S F/S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7/20/2026 → 7/18/2027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442,450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9.9 mi — Irving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$18,000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#78991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Hwy 190 SS 0.3mi E/O Merritt Rd F/E - 1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7/20/2026 → 7/18/2027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151,134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4.2 mi — Murphy (scheduled 7/22/2026)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$3,000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44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#3_3009O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Outfront Media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Central (75) 1000' N/O Parker Road W/S F/S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10'' x 30''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8/8/2027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444,000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4.9 mi — Allen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$6,500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#4_8541O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Outfront Media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Preston .25Mi S/O Old Shephard Road E/S F/S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10'' x 40''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8/8/2027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291,803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0.8 mi — H-E-B Plano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$4,000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53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Choctaw Stadium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 Entertainment  ·  Other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10/18/2026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n/a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8.1 mi — Mid Cities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$175,000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27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#2433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2019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I-20 @ Lake Shore Dr, Exit 413, S/S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4/18/2027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294,900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0.4 mi — Hudson Oaks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$3,749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7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#290R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Reiss Group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Preston Rd.SB @Celina Storage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10' ' x 30''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6/13/2027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105,300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7.2 mi — Hwy 380 and FM 423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$2,900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#445R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Reiss Group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US 80 EB, next to Collins Rd. exit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10'' x 40''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6/27/2027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217,000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11.8 mi — Rockwall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$2,200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27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#003-057L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Reiss Group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21972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4101 Hillstone Pointe Boulevard — Hwy.380 EB,.3/10 mi east of FM 720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14x48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12/27/2026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217,000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8.3 mi — Hwy 380 and FM 423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$2,400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7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#003-055L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Reiss Group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18446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26401 East University Drive — NE Corner of Hwy 380 EB &amp; FM 720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12/27/2026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217,000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8.6 mi — Hwy 380 and FM 423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$2,500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7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#003-009L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Reiss Group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19960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6108 South US Highway 75 South — US 75 SB, 1.5 mi. S of 121 Toll at Boy Scout Council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14x48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781,200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1.5 mi — Allen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$5,800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44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#003-056L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Reiss Group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20120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4201 Carnelian Road — Hwy.380 EB,2/10 mile east of FM 720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14x48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12/27/2026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217,000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8.4 mi — Hwy 380 and FM 423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$2,400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7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#008-0507A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Reiss Group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25743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6428 K Avenue — US 75 NB, 3/10 mi. N. of Spring Creek Pkwy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10x30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421,200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4.3 mi — Allen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$2,500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#003-316RD-1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Reiss Group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21297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2698 North Central Expressway — US 75 NB at Wilmeth Rd Digital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10x30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421,200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7.8 mi — Allen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$2,900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7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#254-19023R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Burks Ad World LLC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18725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2505 Interstate 30 Frontage Road — I-30 WB @ Rochelle Road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14x48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9/1/2026 → 8/31/2029  (Monthly)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327,563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2 mi — Rockwall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$2,500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44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#216-6001A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Firewheel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20275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2698 North George Bush Highway — Firewheel Town Center - President Geo. Bush Tollway (Hwy. 190) n/l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mi. e/o Hwy. 78 (Lavon Dr.)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Garland Texas (East Face and West Face)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12’6”x42’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18,452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5.2 mi — Murphy (scheduled 7/22/2026)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$2,350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44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#216-6002A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Firewheel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17132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9 Town Center Boulevard — Firewheel Town Center-Hwy. 78 (Lavon Dr.) e/l .2 mi. n/o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President Geo. Bush Tollway (Hwy. 190)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Garland Texas (North Face and West Face)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12’6”x42’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165,235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5.5 mi — Murphy (scheduled 7/22/2026)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$2,700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44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#002-648RD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171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648 West Interstate 30 — I-30 EB, W of Beltline Rd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14x48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729,120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10.9 mi — Rockwall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$2,500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#002-1459L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17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1459 Interstate 30 — I-30 WB, on Southside of the Hwy, in Royce City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14x48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434,000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5.9 mi — Rockwall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$1,000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44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#002-1298R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2324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1280 East Interstate 30 — I-30 EB, E of Lake Hubbard Pkwy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14x48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9/8/2026 → 9/6/2027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690,060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7.7 mi — Rockwall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$4,000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#003-AD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Arrington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1367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IH 35 E Apx 1 miles north of Lake Lewisville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14x48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343,066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10.8 mi — Robson Ranch (1/20/27)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$3,500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18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#126-B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Arrington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2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US 380 .5 miles east of Hwy 5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12x24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9/14/2026 → 9/12/2027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81,316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6.9 mi — Allen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$1,200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7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#117-AD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Arrington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FM 423 n/o Main St. (Frisco &amp; Little Elm)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71,875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5.7 mi — Hwy 380 and FM 423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$2,800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44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#117-BD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Arrington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FM 423 n/o Main St. (Frisco &amp; Little Elm)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62,793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5.7 mi — Hwy 380 and FM 423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$2,250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44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#133A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Media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26869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WB/RHR US 380 @ Hardin Blvd (adjacent Costco &amp; 380 Crossing)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10' x 30'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8/3/2026 → 10/25/2026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1,349,696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7.1 mi — Allen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$3,650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7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#800A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Media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2829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US 380 at Coit Rd — "front door of McKinney"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8/3/2026 → 10/25/2026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760,443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3.4 mi — Hwy 380 and FM 423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$4,650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7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#114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276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HWY 287, E/S, 1.5 MI N/O FM 157, N/F (between I-20 and SH-360)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Northwest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137,437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12.7 mi — Burleson H-E-B plus!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$2,895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#078905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18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Hwy 287 ES 1mi S/O Hwy 360 F/S - 1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82,742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15.4 mi — Waxahachie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$2,300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44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#040-1212L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Reiss Group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20357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6503 North Freeway — I-35W NB at Western Center Blvd (west side of 35W)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14x48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263,082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3.8 mi — Alliance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$5,800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#006447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South Fwy (I-35W) ES 0.38mi S/O Alsbury Rd F/N - 1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8/10/2026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203,116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3.1 mi — Burleson H-E-B plus!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$2,000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7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#181-119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Reiss Group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I-35W W/L .5mi N/O FM 1171, Northlake, Denton County, TX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11/2/2026 → 1/10/2027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120,067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4.3 mi — Robson Ranch (1/20/27)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$3,293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#006-78728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Reiss Group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I-35W WS 500ft S/O FM 407 F/S - 1, Corral City, Denton County, TX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11/2/2026 → 1/10/2027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63,570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2.3 mi — Robson Ranch (1/20/27)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$2,400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#006-78074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Reiss Group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I-35W WS 0.4mi S/O FM 407, Corral City, Denton County, TX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11/2/2026 → 1/10/2027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95,992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2.6 mi — Robson Ranch (1/20/27)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$2,400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#78987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Hwy 190 SS 0.4mi E/O Merritt Rd F/E - 1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11/9/2026 → 11/7/2027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154,270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4.2 mi — Murphy (scheduled 7/22/2026)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$3,000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44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#2_7891O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Outfront Media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I-35W S/O Loop 820 W/S F/N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48"'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11/23/2026 → 11/21/2027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441,111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5.5 mi — Alliance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$5,850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#78885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Hwy 190 NS 0.6mi E/O Merritt Rd F/E - 1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48"'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1/4/2027 → 1/2/2028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174,763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4.2 mi — Murphy (scheduled 7/22/2026)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$3,000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44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#002-1125RD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199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2610 Sunset Ridge Drive — I-30 EB @ Ridge Rd.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14x48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9/18/2026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n/a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2.8 mi — Rockwall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$4,000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18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West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2026-09-15T18:55:56Z</dcterms:created>
  <dcterms:modified xsi:type="dcterms:W3CDTF">2026-09-15T18:55:56Z</dcterms:modified>
</cp:coreProperties>
</file>