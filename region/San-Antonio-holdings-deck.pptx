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</p:sldIdLst>
  <p:notesMasterIdLst>
    <p:notesMasterId r:id="rId6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notesMaster" Target="notesMasters/notesMaster1.xml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jpe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jpe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image" Target="../media/image-17-2.jpe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jpe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image" Target="../media/image-19-2.jpe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image" Target="../media/image-20-2.jpe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image" Target="../media/image-21-2.jpe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image" Target="../media/image-22-2.jpe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image" Target="../media/image-23-2.jpe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image" Target="../media/image-24-2.jpe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image" Target="../media/image-25-2.jpe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image" Target="../media/image-26-2.jpe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image" Target="../media/image-27-2.jpe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image" Target="../media/image-28-2.jpe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eg"/><Relationship Id="rId2" Type="http://schemas.openxmlformats.org/officeDocument/2006/relationships/image" Target="../media/image-29-2.jpe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eg"/><Relationship Id="rId2" Type="http://schemas.openxmlformats.org/officeDocument/2006/relationships/image" Target="../media/image-30-2.jpe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eg"/><Relationship Id="rId2" Type="http://schemas.openxmlformats.org/officeDocument/2006/relationships/image" Target="../media/image-31-2.jpe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eg"/><Relationship Id="rId2" Type="http://schemas.openxmlformats.org/officeDocument/2006/relationships/image" Target="../media/image-32-2.jpe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eg"/><Relationship Id="rId2" Type="http://schemas.openxmlformats.org/officeDocument/2006/relationships/image" Target="../media/image-33-2.jpe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eg"/><Relationship Id="rId2" Type="http://schemas.openxmlformats.org/officeDocument/2006/relationships/image" Target="../media/image-34-2.jpe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eg"/><Relationship Id="rId2" Type="http://schemas.openxmlformats.org/officeDocument/2006/relationships/image" Target="../media/image-35-2.jpeg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eg"/><Relationship Id="rId2" Type="http://schemas.openxmlformats.org/officeDocument/2006/relationships/image" Target="../media/image-36-2.jpe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eg"/><Relationship Id="rId2" Type="http://schemas.openxmlformats.org/officeDocument/2006/relationships/image" Target="../media/image-37-2.jpe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eg"/><Relationship Id="rId2" Type="http://schemas.openxmlformats.org/officeDocument/2006/relationships/image" Target="../media/image-38-2.jpe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eg"/><Relationship Id="rId2" Type="http://schemas.openxmlformats.org/officeDocument/2006/relationships/image" Target="../media/image-39-2.jpe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eg"/><Relationship Id="rId2" Type="http://schemas.openxmlformats.org/officeDocument/2006/relationships/image" Target="../media/image-40-2.jpeg"/><Relationship Id="rId3" Type="http://schemas.openxmlformats.org/officeDocument/2006/relationships/image" Target="../media/image-4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eg"/><Relationship Id="rId2" Type="http://schemas.openxmlformats.org/officeDocument/2006/relationships/image" Target="../media/image-41-2.jpe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eg"/><Relationship Id="rId2" Type="http://schemas.openxmlformats.org/officeDocument/2006/relationships/image" Target="../media/image-42-2.jpe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eg"/><Relationship Id="rId2" Type="http://schemas.openxmlformats.org/officeDocument/2006/relationships/image" Target="../media/image-43-2.jpe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eg"/><Relationship Id="rId2" Type="http://schemas.openxmlformats.org/officeDocument/2006/relationships/image" Target="../media/image-44-2.jpe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eg"/><Relationship Id="rId2" Type="http://schemas.openxmlformats.org/officeDocument/2006/relationships/image" Target="../media/image-45-2.jpe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eg"/><Relationship Id="rId2" Type="http://schemas.openxmlformats.org/officeDocument/2006/relationships/image" Target="../media/image-46-2.jpeg"/><Relationship Id="rId3" Type="http://schemas.openxmlformats.org/officeDocument/2006/relationships/image" Target="../media/image-4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eg"/><Relationship Id="rId2" Type="http://schemas.openxmlformats.org/officeDocument/2006/relationships/image" Target="../media/image-47-2.jpeg"/><Relationship Id="rId3" Type="http://schemas.openxmlformats.org/officeDocument/2006/relationships/image" Target="../media/image-4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eg"/><Relationship Id="rId2" Type="http://schemas.openxmlformats.org/officeDocument/2006/relationships/image" Target="../media/image-48-2.jpeg"/><Relationship Id="rId3" Type="http://schemas.openxmlformats.org/officeDocument/2006/relationships/image" Target="../media/image-4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eg"/><Relationship Id="rId2" Type="http://schemas.openxmlformats.org/officeDocument/2006/relationships/image" Target="../media/image-49-2.jpeg"/><Relationship Id="rId3" Type="http://schemas.openxmlformats.org/officeDocument/2006/relationships/image" Target="../media/image-4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jpeg"/><Relationship Id="rId2" Type="http://schemas.openxmlformats.org/officeDocument/2006/relationships/image" Target="../media/image-50-2.jpeg"/><Relationship Id="rId3" Type="http://schemas.openxmlformats.org/officeDocument/2006/relationships/image" Target="../media/image-5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eg"/><Relationship Id="rId2" Type="http://schemas.openxmlformats.org/officeDocument/2006/relationships/image" Target="../media/image-51-2.jpeg"/><Relationship Id="rId3" Type="http://schemas.openxmlformats.org/officeDocument/2006/relationships/image" Target="../media/image-5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jpeg"/><Relationship Id="rId2" Type="http://schemas.openxmlformats.org/officeDocument/2006/relationships/image" Target="../media/image-52-2.jpeg"/><Relationship Id="rId3" Type="http://schemas.openxmlformats.org/officeDocument/2006/relationships/image" Target="../media/image-5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e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e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jpe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jpe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e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jpe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jpe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jpe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jpeg"/><Relationship Id="rId2" Type="http://schemas.openxmlformats.org/officeDocument/2006/relationships/image" Target="../media/image-61-2.jpeg"/><Relationship Id="rId3" Type="http://schemas.openxmlformats.org/officeDocument/2006/relationships/image" Target="../media/image-6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81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68680"/>
            <a:ext cx="2468880" cy="80238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8745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822960" y="27889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OOH Current Holdings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822960" y="3611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D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 contracted holdings · 8 in market now · prepared 8/17/2026 · H-E-B OOH Program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OOH Current Holdings Map</a:t>
            </a:r>
            <a:endParaRPr lang="en-US" sz="2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51560" cy="341757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591" y="1051560"/>
            <a:ext cx="10971771" cy="5212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40080" y="6400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pin = in market now · Orange pin = starting soon · Purple pin = Unique OOH (wallscapes / transit) · Purple dashes = Bus Routes · Red pills = H-E-B stores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 &amp; Impressions — San Antonio Region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429768"/>
            <a:ext cx="1051560" cy="34175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060704"/>
            <a:ext cx="10936224" cy="4572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Shape 2"/>
          <p:cNvSpPr/>
          <p:nvPr/>
        </p:nvSpPr>
        <p:spPr>
          <a:xfrm>
            <a:off x="64008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2B2B2B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584" y="1572768"/>
            <a:ext cx="530352" cy="53035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$29,384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91440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PERIOD COMMITTED (IN-MARKET)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448056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8056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72768"/>
            <a:ext cx="530352" cy="53035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75488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22,710,147</a:t>
            </a:r>
            <a:endParaRPr lang="en-US" sz="3200" dirty="0"/>
          </a:p>
        </p:txBody>
      </p:sp>
      <p:sp>
        <p:nvSpPr>
          <p:cNvPr id="14" name="Text 9"/>
          <p:cNvSpPr/>
          <p:nvPr/>
        </p:nvSpPr>
        <p:spPr>
          <a:xfrm>
            <a:off x="475488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 / WEEK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832104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2104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10544" y="1572768"/>
            <a:ext cx="530352" cy="53035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59536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$0.32</a:t>
            </a:r>
            <a:endParaRPr lang="en-US" sz="3200" dirty="0"/>
          </a:p>
        </p:txBody>
      </p:sp>
      <p:sp>
        <p:nvSpPr>
          <p:cNvPr id="19" name="Text 13"/>
          <p:cNvSpPr/>
          <p:nvPr/>
        </p:nvSpPr>
        <p:spPr>
          <a:xfrm>
            <a:off x="859536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 CPM (4-WEEK)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640080" y="32461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4008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E7B34"/>
          </a:solidFill>
          <a:ln/>
        </p:spPr>
      </p:sp>
      <p:sp>
        <p:nvSpPr>
          <p:cNvPr id="22" name="Text 16"/>
          <p:cNvSpPr/>
          <p:nvPr/>
        </p:nvSpPr>
        <p:spPr>
          <a:xfrm>
            <a:off x="914400" y="3319272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$52,526</a:t>
            </a:r>
            <a:endParaRPr lang="en-US" sz="28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867912"/>
            <a:ext cx="3017520" cy="52806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4400" y="43799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FY26 BUDGET LEFT TO SPEND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4480560" y="3246120"/>
            <a:ext cx="740664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448056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7B3FA0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3291840"/>
            <a:ext cx="2112264" cy="150876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086600" y="3374136"/>
            <a:ext cx="2331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36 Static Bulletins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21 Digital Bulletins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12 Bannerses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7086600" y="441655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MIX</a:t>
            </a:r>
            <a:endParaRPr lang="en-US" sz="950" dirty="0"/>
          </a:p>
        </p:txBody>
      </p:sp>
      <p:sp>
        <p:nvSpPr>
          <p:cNvPr id="30" name="Text 22"/>
          <p:cNvSpPr/>
          <p:nvPr/>
        </p:nvSpPr>
        <p:spPr>
          <a:xfrm>
            <a:off x="9692640" y="33741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3200" dirty="0"/>
          </a:p>
        </p:txBody>
      </p:sp>
      <p:sp>
        <p:nvSpPr>
          <p:cNvPr id="31" name="Text 23"/>
          <p:cNvSpPr/>
          <p:nvPr/>
        </p:nvSpPr>
        <p:spPr>
          <a:xfrm>
            <a:off x="9692640" y="42519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CONTRACTED HOLDINGS · 8 IN MARKET · 50 STARTING SOON</a:t>
            </a:r>
            <a:endParaRPr lang="en-US" sz="950" dirty="0"/>
          </a:p>
        </p:txBody>
      </p:sp>
      <p:sp>
        <p:nvSpPr>
          <p:cNvPr id="32" name="Shape 24"/>
          <p:cNvSpPr/>
          <p:nvPr/>
        </p:nvSpPr>
        <p:spPr>
          <a:xfrm>
            <a:off x="640080" y="5394960"/>
            <a:ext cx="10936224" cy="566928"/>
          </a:xfrm>
          <a:prstGeom prst="roundRect">
            <a:avLst>
              <a:gd name="adj" fmla="val 14516"/>
            </a:avLst>
          </a:prstGeom>
          <a:solidFill>
            <a:srgbClr val="FBE9EC"/>
          </a:solidFill>
          <a:ln/>
        </p:spPr>
      </p:sp>
      <p:sp>
        <p:nvSpPr>
          <p:cNvPr id="33" name="Text 25"/>
          <p:cNvSpPr/>
          <p:nvPr/>
        </p:nvSpPr>
        <p:spPr>
          <a:xfrm>
            <a:off x="896112" y="539496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0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FY26 OOH budget: $1,037,000    ·    FY26 ends 11/1/2026    ·    program buys draw down what was left to spend ($433,374)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East Face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Keller Custom Signs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Double Sided Board (Colonnade) **10-year addendum effective 4/1/21** Total cost reflects PER year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3/31/2031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I10 and Wurzbach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$5,566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West Face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Keller Custom Signs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Double Sided Board (Colonnade) **10-year addendum effective 4/1/21** Total cost reflects PER year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3/31/2031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I10 and Wurzbach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$5,566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#4446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West Ave 100' W/O Blanco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10.5'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9/27/2026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234,667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Blanco and West Ave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$1,775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#3428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West Ave 100' S/O Blanco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10.5'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3/28/2027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84,337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Blanco and West Ave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$1,465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#4338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I-10 NW 100ft n/o DeZavala 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20' x 60'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2/21/2027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601,051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De Zavala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$7,875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#4126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1604 &amp; Bandera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10.5'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4/13/2026 → 4/11/2027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86,239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Bandera and 1604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—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#02_6069O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281 N .5M S/O Airport Blvd/Loop 410 ES F/N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2/21/2027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432,834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1.1 mi — Lincoln Heights Market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$7,137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#2569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Fredericksburg 15 ft S/ O West Av 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12’3' x 24’6'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11/1/2025 → 10/31/2030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29,195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 mi — Deco District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—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#10201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E .7Mi S/O Highway 78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10/12/2026 → 11/29/2026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65,969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1.9 mi — Kitty Hawk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$1,335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TX46B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 Outdoor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228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N/S of Hwy 90 Bus., 600 feet E/o FM 725.    Seguin, Texas N/S, W/F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x 30'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10/4/2026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166,460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5 mi — Seguin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TX305S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Kenjoh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67940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W/L .6 Miles South of I-35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11'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68,098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1.2 mi — Kitty Hawk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$1,250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TX309W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Kenjoh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734" y="1234440"/>
            <a:ext cx="4662532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West Avenue W/L at Jackson Keller Rd, West Face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x 30'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8/22/2027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80,734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West Ave and Jackson Keller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$2,400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#004157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 N WS 0.9mi N/O Loop 410 F/S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685,058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1.6 mi — Perrin Beitel and Thousand Oaks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#004225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90 NS 0.2mi E/O Hwy 151 F/W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196,832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2.1 mi — Las Palmas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#004875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4619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NS 300ft W/O Babcock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332,535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2.2 mi — College Park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#005187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I-10 NW WS 0.3mi S/O DeZavala F/S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9/13/2026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439,287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De Zavala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#005569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8115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WS 0.9mi N/O Culebra F/N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279,692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2.1 mi — Alamo Ranch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#010206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US281 N WS 700ft S/O Thousand Oaks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295,296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0.9 mi — Brook Hollow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#010208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Loop1604 SS .2miles E/O Stone Oak Pkwy F/E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321,050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1.2 mi — 281 and 1604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$2,200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#010228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410 SS 150ft W/O West Ave F/W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900,124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 mi — West Ave and Jackson Keller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#010244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4489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78 SS 1.25mi E/O Loop 410 S F/SW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SW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10'6"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44,059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1.8 mi — Foster Rd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#1352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IH-10 W., 4/10 MI E/O MM 545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255,759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Fair Oaks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#1353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N/S BANDERA RD. 3.8 MI E/O LP 1604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6" x 40'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406,505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1.1 mi — Bandera and Guilbeau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#40182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281 1000'N/O EVANS RD.F/S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West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314,740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281 and Evans Road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#1680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@ POTRANCO RD.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12/20/2026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62,485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0.5 mi — Potranco and 1604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543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#40021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I-10 500' N/O Hildebrand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12/20/2026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849,571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0.7 mi — Deco District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#40111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I-10-W/S @ BALCONES RD.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723,436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2.1 mi — Deco District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#2_1963F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64636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NW Loop 410 W/O Bandera Rd. F/N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14'x48'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1,522,800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0.5 mi — Marketplace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Outdoor Displays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0555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ES IH-37, S/O Southcross - F/S (@ Gevers)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8/25/2026 → 2/24/2027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0.5 mi — McCreless Market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6 FN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Outdoor Displays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09621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ES I-10 W, S/O Old Fredericksburg Rd. -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8/25/2026 → 8/24/2027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2.1 mi — Leon Springs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#54560.2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SignAd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FM 78/OLD SEGUIN RD/.7 MI E/O WALZEM RD/CONVERSE-LED-LH/WB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 ft x 36 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24,119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2.4 mi — Foster Rd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#44531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S/SI-10 1.9 MI E/O SR 46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0" x 40'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10/19/2026 → 1/10/2027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296,736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 mi — Boerne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$3,150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#90391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I-35 S/O LOOP 337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8/31/2026 → 10/25/2026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461,327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 mi — New Braunfels 3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#40081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281 1000' N/O EVANS RD.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12/20/2026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274,454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281 and Evans Road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#1344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N/S I-10 1.8 MI E/O LOOP 1604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0" x 40'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169,587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5.7 mi — Kitty Hawk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$2,250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#62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Gunnarson Outdoor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3565" y="1234440"/>
            <a:ext cx="3850871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IH-35, South of Hwy 3009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9/1/2026 → 10/31/2026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420,000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Schertz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$3,275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Gunnarson Outdoor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3565" y="1234440"/>
            <a:ext cx="3850871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IH-35,Near Walnut Avenue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9/1/2026 → 10/31/2026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450,000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New Braunfels H-E-B at Walnut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$4,275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Gunnarson Outdoor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3565" y="1234440"/>
            <a:ext cx="3850871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IH-35,1/2 mile south of Hwy 306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  ·  Read: CR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9/1/2026 → 10/31/2026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400,000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3.1 mi — New Braunfels H-E-B at Walnut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$3,275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#004127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SS 0.2mi E/O Bandera F/W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10'6"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140,172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Bandera and 1604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#005437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I-10 E NS 1.5mi E/O Foster Rd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10/5/2026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207,445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2.5 mi — Foster Rd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#004364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69996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281 N ES 0.2mi N/O Pasa Del Norte F/S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318,759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0.6 mi — Brook Hollow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$1,400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#004742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NS 0.3mi W/O Bulverde F/W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228,104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0.5 mi — Bulverde and 1604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#005540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Blanco ES 0.5mi S/O Loop 1604 F/N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79,381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 mi — Loop 1604 and Blanco Rd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$1,900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#004807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Bandera WS 0.3mi S/O Braun F/N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10/5/2026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203,753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0.6 mi — Bandera and Guilbeau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#005121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281 N ES 250ft S/O Isom F/SE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SE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10/5/2026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492,997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1.7 mi — Blanco and West Ave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#005403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410 SS 0.2mi W/O Jackson Keller F/W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1,034,308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West Ave and Jackson Keller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#005430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San Pedro ES 0.3mi N/O Jackson Keller F/S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131,668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San Pedro and Oblate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#003442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Grissom NS 500ft E/O Culebra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104,481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Grissom and Tezel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$1,200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#005606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07182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Potranco NS 0.2mi W/O W Military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9/21/2026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159,466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0.8 mi — Culebra and 1604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543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#004413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 S ES 0.3mi N/O SW Military F/N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156,948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0.8 mi — Zarzamora and Military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51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#004768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I-10 NW WS 500ft N/O Fredericksburg F/N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703,866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0.9 mi — Deco District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#005188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I-10 NW WS 0.3mi S/O DeZavala F/N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1,095,078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De Zavala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#004778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410 NS 1000ft E/O Bandera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1,025,010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Marketplace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#005185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McAllister Frwy WS 0.1mi N/O Sunset F/N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332,709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0.9 mi — Lincoln Heights Market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#004664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410 SS 50ft W/O Jackson Keller F/E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909,209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West Ave and Jackson Keller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$4,770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#005184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McAllister Frwy WS 0.1mi N/O Sunset F/S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9/7/2026 → 9/13/2026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419,410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0.9 mi — Lincoln Heights Market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#004756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410 SS 0.4mi W/O Perrin Beitel F/E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543,631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1.7 mi — Austin Highway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$2,340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 #1302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Tradition  ·  Place-Based - Banners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OOH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3264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San Antonio · San Antonio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2,448,716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0.7 mi — South Flores Market H-E-B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card: $38,561 / 4-week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$31,186 / period  ·  $77,965 contract total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61</Slides>
  <Notes>61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2026-08-17T15:21:47Z</dcterms:created>
  <dcterms:modified xsi:type="dcterms:W3CDTF">2026-08-17T15:21:47Z</dcterms:modified>
</cp:coreProperties>
</file>