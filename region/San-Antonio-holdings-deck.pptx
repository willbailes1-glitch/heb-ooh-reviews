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jpe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jpe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jpe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jpe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jpe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image" Target="../media/image-27-2.jpe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jpe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30-2.jpe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31-2.jpe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jpe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image" Target="../media/image-33-2.jpe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jpe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image" Target="../media/image-35-2.jpe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image" Target="../media/image-36-2.jpe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image" Target="../media/image-37-2.jpe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image" Target="../media/image-38-2.jpe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image" Target="../media/image-39-2.jpe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image" Target="../media/image-40-2.jpe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image" Target="../media/image-41-2.jpe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e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e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e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e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eg"/><Relationship Id="rId2" Type="http://schemas.openxmlformats.org/officeDocument/2006/relationships/image" Target="../media/image-46-2.jpe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image" Target="../media/image-47-2.jpe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image" Target="../media/image-49-2.jpe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eg"/><Relationship Id="rId2" Type="http://schemas.openxmlformats.org/officeDocument/2006/relationships/image" Target="../media/image-50-2.jpe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eg"/><Relationship Id="rId2" Type="http://schemas.openxmlformats.org/officeDocument/2006/relationships/image" Target="../media/image-51-2.jpe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eg"/><Relationship Id="rId2" Type="http://schemas.openxmlformats.org/officeDocument/2006/relationships/image" Target="../media/image-52-2.jpe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eg"/><Relationship Id="rId2" Type="http://schemas.openxmlformats.org/officeDocument/2006/relationships/image" Target="../media/image-53-2.jpe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eg"/><Relationship Id="rId2" Type="http://schemas.openxmlformats.org/officeDocument/2006/relationships/image" Target="../media/image-54-2.jpe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eg"/><Relationship Id="rId2" Type="http://schemas.openxmlformats.org/officeDocument/2006/relationships/image" Target="../media/image-55-2.jpe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eg"/><Relationship Id="rId2" Type="http://schemas.openxmlformats.org/officeDocument/2006/relationships/image" Target="../media/image-56-2.jpe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eg"/><Relationship Id="rId2" Type="http://schemas.openxmlformats.org/officeDocument/2006/relationships/image" Target="../media/image-57-2.jpeg"/><Relationship Id="rId3" Type="http://schemas.openxmlformats.org/officeDocument/2006/relationships/image" Target="../media/image-5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image" Target="../media/image-58-2.jpeg"/><Relationship Id="rId3" Type="http://schemas.openxmlformats.org/officeDocument/2006/relationships/image" Target="../media/image-5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eg"/><Relationship Id="rId2" Type="http://schemas.openxmlformats.org/officeDocument/2006/relationships/image" Target="../media/image-59-2.jpe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eg"/><Relationship Id="rId2" Type="http://schemas.openxmlformats.org/officeDocument/2006/relationships/image" Target="../media/image-60-2.jpeg"/><Relationship Id="rId3" Type="http://schemas.openxmlformats.org/officeDocument/2006/relationships/image" Target="../media/image-6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eg"/><Relationship Id="rId2" Type="http://schemas.openxmlformats.org/officeDocument/2006/relationships/image" Target="../media/image-61-2.jpeg"/><Relationship Id="rId3" Type="http://schemas.openxmlformats.org/officeDocument/2006/relationships/image" Target="../media/image-6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2468880" cy="802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22960" y="2788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OOH Current Holdings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contracted holdings · 47 in market now · prepared 9/15/2026 · H-E-B OOH Program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OOH Current Holdings Map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51560" cy="34175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91" y="1051560"/>
            <a:ext cx="10971771" cy="5212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pin = in market now · Orange pin = starting soon · Purple pin = Unique OOH (wallscapes / transit) · Purple dashes = Bus Routes · Red pills = H-E-B stores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&amp; Impressions — San Antonio Region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429768"/>
            <a:ext cx="1051560" cy="3417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060704"/>
            <a:ext cx="10936224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2B2B2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572768"/>
            <a:ext cx="530352" cy="530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$167,455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1440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PERIOD COMMITTED (IN-MARKET)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48056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8056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1F3A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572768"/>
            <a:ext cx="530352" cy="5303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23,299,730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475488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/ WEEK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832104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10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1F3A9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544" y="1572768"/>
            <a:ext cx="530352" cy="530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9536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$1.80</a:t>
            </a:r>
            <a:endParaRPr lang="en-US" sz="3200" dirty="0"/>
          </a:p>
        </p:txBody>
      </p:sp>
      <p:sp>
        <p:nvSpPr>
          <p:cNvPr id="19" name="Text 13"/>
          <p:cNvSpPr/>
          <p:nvPr/>
        </p:nvSpPr>
        <p:spPr>
          <a:xfrm>
            <a:off x="859536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CPM (4-WEEK)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40080" y="32461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32461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1E7B34"/>
          </a:solidFill>
          <a:ln/>
        </p:spPr>
      </p:sp>
      <p:sp>
        <p:nvSpPr>
          <p:cNvPr id="22" name="Text 16"/>
          <p:cNvSpPr/>
          <p:nvPr/>
        </p:nvSpPr>
        <p:spPr>
          <a:xfrm>
            <a:off x="914400" y="33192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$50,608</a:t>
            </a:r>
            <a:endParaRPr lang="en-US" sz="2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67912"/>
            <a:ext cx="3017520" cy="5280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43799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BUDGET LEFT TO SPEND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480560" y="3246120"/>
            <a:ext cx="74066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80560" y="32461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7B3FA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291840"/>
            <a:ext cx="2112264" cy="1508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86600" y="3374136"/>
            <a:ext cx="2331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37 Static Bulletins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20 Digital Bulletins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12 Bannerses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086600" y="4416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MIX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9692640" y="33741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3200" dirty="0"/>
          </a:p>
        </p:txBody>
      </p:sp>
      <p:sp>
        <p:nvSpPr>
          <p:cNvPr id="31" name="Text 23"/>
          <p:cNvSpPr/>
          <p:nvPr/>
        </p:nvSpPr>
        <p:spPr>
          <a:xfrm>
            <a:off x="9692640" y="4251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 HOLDINGS · 47 IN MARKET · 11 STARTING SOON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640080" y="5394960"/>
            <a:ext cx="10936224" cy="566928"/>
          </a:xfrm>
          <a:prstGeom prst="roundRect">
            <a:avLst>
              <a:gd name="adj" fmla="val 14516"/>
            </a:avLst>
          </a:prstGeom>
          <a:solidFill>
            <a:srgbClr val="FBE9EC"/>
          </a:solidFill>
          <a:ln/>
        </p:spPr>
      </p:sp>
      <p:sp>
        <p:nvSpPr>
          <p:cNvPr id="33" name="Text 25"/>
          <p:cNvSpPr/>
          <p:nvPr/>
        </p:nvSpPr>
        <p:spPr>
          <a:xfrm>
            <a:off x="896112" y="53949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0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FY26 OOH budget: $1,037,000    ·    FY26 ends 11/1/2026    ·    program buys draw down what was left to spend ($433,374)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Face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Keller Custom Signs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Double Sided Board (Colonnade) **10-year addendum effective 4/1/21** Total cost reflects PER year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3/31/2031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n/a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2.2 mi — Alon Market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$5,566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Face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Keller Custom Signs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Double Sided Board (Colonnade) **10-year addendum effective 4/1/21** Total cost reflects PER year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3/31/2031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n/a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2.2 mi — Alon Market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$5,566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#4446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West Ave 100' W/O Blanco NS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10.5' x 36'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9/27/2026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234,667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Blanco and West Ave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$1,775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17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#3428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West Ave 100' S/O Blanco WS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10.5' x 36'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3/28/2027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84,337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Blanco and West Ave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$1,465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17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#4338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I-10 NW 100ft n/o DeZavala 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20' x 60'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2/21/2027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601,051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0.2 mi — De Zavala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$7,875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5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#4126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1604 &amp; Bandera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10.5' x 36'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4/13/2026 → 4/11/2027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86,239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2.7 mi — Bandera and Guilbeau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—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17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#02_6069O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US 281 N .5M S/O Airport Blvd/Loop 410 ES F/N F/N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2/21/2027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432,834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1.1 mi — Oak Park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$7,137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#2569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Fredericksburg 15 ft S/ O West Av 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12'3" x 24'6"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11/1/2025 → 10/31/2030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29,195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 mi — Deco District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—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TX46B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 Outdoor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2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N/S of Hwy 90 Bus., 600 feet E/o FM 725.    Seguin, Texas N/S, W/F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 x 30'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10/4/2026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166,460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8.7 mi — New Braunfels H-E-B at Hwy 46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17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TX305S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Kenjoh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679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1604 W/L .6 Miles South of I-35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11' x 36'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68,098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3.7 mi — Nacogdoches and O'Connor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$1,250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17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TX309W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Kenjoh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34" y="1234440"/>
            <a:ext cx="4662532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West Avenue W/L at Jackson Keller Rd, West Face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 x 30'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8/22/2027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80,734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West Ave and Jackson Keller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$2,400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#004225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US 90 NS 0.2mi E/O Hwy 151 F/W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196,832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3.7 mi — El Mercado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$2,700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#004875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461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1604 NS 300ft W/O Babcock F/E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332,535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2.2 mi — College Park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$3,313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5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#005569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8115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1604 WS 0.9mi N/O Culebra F/N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279,692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2.5 mi — Grissom and Tezel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#010206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US281 N WS 700ft S/O Thousand Oaks F/N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295,296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0.9 mi — Brook Hollow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$3,313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5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#010208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Loop1604 SS .2miles E/O Stone Oak Pkwy F/E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321,050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1.2 mi — 281 and 1604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$2,200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5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#010228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410 SS 150ft W/O West Ave F/W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900,124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 mi — West Ave and Jackson Keller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$3,313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#010244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4489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78 SS 1.25mi E/O Loop 410 S F/SW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SW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10'6" x 36'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44,059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1.8 mi — Foster Rd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$800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#1352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IH-10 W., 4/10 MI E/O MM 545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East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0" x 48'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11/15/2026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255,759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Fair Oaks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$4,050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#1353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N/S BANDERA RD. 3.8 MI E/O LP 1604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East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 6" x 40'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11/15/2026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406,505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1.1 mi — Bandera and Guilbeau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$2,700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#40182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E/S 281 1000'N/O EVANS RD.F/S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West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0" x 48'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11/15/2026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314,740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281 and Evans Road H-E-B plus!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$3,600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#40111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I-10-W/S @ BALCONES RD.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East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0" x 48'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11/15/2026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723,436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2.1 mi — Deco District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$3,600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#2_1963F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Outfront Media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6463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NW Loop 410 W/O Bandera Rd. F/N F/N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14'x48'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1,522,800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0.5 mi — Marketplace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Outdoor Displays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055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ES IH-37, S/O Southcross - F/S (@ Gevers)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8/25/2026 → 2/24/2027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n/a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3 mi — Military and Pleasanton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6 FN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Outdoor Displays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0962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ES I-10 W, S/O Old Fredericksburg Rd. - F/N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 x 36'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8/25/2026 → 8/24/2027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n/a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2.1 mi — Leon Springs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#010244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78 SS 1.25mi E/O Loop 410 S F/SW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SW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10'6" x 36'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44,059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1.8 mi — Foster Rd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$800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#54560.2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SignAd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FM 78/OLD SEGUIN RD/.7 MI E/O WALZEM RD/CONVERSE-LED-LH/WB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 ft x 36 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24,119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2.4 mi — Foster Rd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#90391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W/S I-35 S/O LOOP 337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West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0" x 48'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8/31/2026 → 10/25/2026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461,327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 mi — New Braunfels 3 H-E-B plus!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$4,050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#1344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N/S I-10 1.8 MI E/O LOOP 1604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 0" x 40'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11/15/2026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169,587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5.9 mi — Foster Rd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$2,250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Gunnarson Outdoor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565" y="1234440"/>
            <a:ext cx="3850871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IH-35, South of Hwy 3009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 x 40'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9/1/2026 → 10/31/2026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420,000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0.3 mi — Schertz H-E-B plus!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$3,275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5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Gunnarson Outdoor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565" y="1234440"/>
            <a:ext cx="3850871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IH-35,Near Walnut Avenue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9/1/2026 → 10/31/2026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450,000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0.2 mi — New Braunfels H-E-B at Walnut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$4,275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Gunnarson Outdoor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565" y="1234440"/>
            <a:ext cx="3850871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IH-35,1/2 mile south of Hwy 306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  ·  Read: CR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 x 40'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9/1/2026 → 10/31/2026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400,000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3.1 mi — New Braunfels H-E-B at Walnut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$3,275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#004127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1604 SS 0.2mi E/O Bandera F/W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10'6" x 36'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140,172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2.7 mi — Bandera and Guilbeau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17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#004364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6999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US 281 N ES 0.2mi N/O Pasa Del Norte F/S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318,759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0.6 mi — Brook Hollow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$1,400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5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#004742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1604 NS 0.3mi W/O Bulverde F/W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228,104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1.9 mi — Thousand Oaks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5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#005540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Blanco ES 0.5mi S/O Loop 1604 F/N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79,381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 mi — Loop 1604 and Blanco Rd H-E-B plus!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$1,900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5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#005403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410 SS 0.2mi W/O Jackson Keller F/W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9/14/2026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1,034,308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0.3 mi — West Ave and Jackson Keller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#003442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Grissom NS 500ft E/O Culebra F/E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104,481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0.2 mi — Grissom and Tezel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$1,200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#004413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I-35 S ES 0.3mi N/O SW Military F/N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156,948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1.2 mi — Military and Pleasanton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$3,313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#004768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I-10 NW WS 500ft N/O Fredericksburg F/N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703,866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0.9 mi — Deco District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$3,313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#005188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I-10 NW WS 0.3mi S/O DeZavala F/N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9/14/2026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1,095,078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0.3 mi — De Zavala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$3,313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17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#004778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410 NS 1000ft E/O Bandera F/E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1,025,010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0.2 mi — Marketplace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$3,313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#005185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McAllister Frwy WS 0.1mi N/O Sunset F/N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332,709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1.2 mi — Oak Park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$3,313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#004664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183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410 SS 50ft W/O Jackson Keller F/E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909,209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West Ave and Jackson Keller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$4,770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#004756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410 SS 0.4mi W/O Perrin Beitel F/E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9/14/2026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543,631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2.4 mi — Perrin Beitel and Thousand Oaks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$2,340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#004697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3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410 NS 0.3mi E/O Perrin Beitel F/W - 1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8/31/2026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552,954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2.1 mi — Montgomery at Walzem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#10201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Digital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5853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1604 E .7Mi S/O Highway 78 F/N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14'' x 48''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10/12/2026 → 11/29/2026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65,969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4.6 mi — Montgomery at Walzem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$1,335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#1680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LOOP 1604 @ POTRANCO RD.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0" x 48'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9/28/2026 → 12/20/2026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62,485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0.5 mi — Potranco and 1604 H-E-B plus!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$3,600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54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#40021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E/S I-10 500' N/O Hildebrand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0" x 48'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9/28/2026 → 12/20/2026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849,571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0.7 mi — Deco District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$3,600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TX39A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 Outdoor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2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N/S of IH-10 East, .7 Miles E/o Loop 1604.     Exit 587, E/F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E/F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14'0x48'0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1/11/2027 → 1/9/2028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1,536,325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4.7 mi — Foster Rd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$1,200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#44531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S/SI-10 1.9 MI E/O SR 46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 0" x 40'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10/19/2026 → 1/10/2027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296,736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2.4 mi — Fair Oaks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$3,150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#40081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E/S 281 1000' N/O EVANS RD.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0" x 48'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9/28/2026 → 12/20/2026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274,454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0.3 mi — 281 and Evans Road H-E-B plus!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$3,600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#005437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I-10 E NS 1.5mi E/O Foster Rd F/E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10/5/2026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207,445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2.5 mi — Foster Rd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#004807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Bandera WS 0.3mi S/O Braun F/N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10/5/2026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203,753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0.6 mi — Bandera and Guilbeau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#005121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US 281 N ES 250ft S/O Isom F/SE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SE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10/5/2026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492,997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1.7 mi — Blanco and West Ave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$4,800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#005430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8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San Pedro ES 0.3mi N/O Jackson Keller F/S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9/28/2026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131,668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1.9 mi — West Ave and Jackson Keller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$2,800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#005606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071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Potranco NS 0.2mi W/O W Military F/E - 2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9/21/2026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159,466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0.8 mi — Culebra and 1604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54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 #1302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Tradition  ·  Place-Based - Banners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OOH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326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San Antonio · San Antonio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2,448,716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0.7 mi — South Flores Market H-E-B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card: $38,561 / 4-week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$31,186 / period  ·  $77,965 contract total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2026-09-15T19:04:21Z</dcterms:created>
  <dcterms:modified xsi:type="dcterms:W3CDTF">2026-09-15T19:04:21Z</dcterms:modified>
</cp:coreProperties>
</file>