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jpe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jpe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jpe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jpe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jpe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image" Target="../media/image-27-2.jpe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jpe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image" Target="../media/image-29-2.jpe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30-2.jpe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image" Target="../media/image-33-2.jpe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2468880" cy="802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22960" y="2788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OOH Current Holdings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contracted holdings · 23 in market now · prepared 9/15/2026 · H-E-B OOH Program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OOH Current Holdings Map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51560" cy="34175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28" y="1051560"/>
            <a:ext cx="10962497" cy="5212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pin = in market now · Orange pin = starting soon · Purple pin = Unique OOH (wallscapes / transit) · Purple dashes = Bus Routes · Red pills = H-E-B stores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&amp; Impressions — Central Region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429768"/>
            <a:ext cx="1051560" cy="3417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060704"/>
            <a:ext cx="10936224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2B2B2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572768"/>
            <a:ext cx="530352" cy="530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$177,959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1440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PERIOD COMMITTED (IN-MARKET)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48056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8056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1F3A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572768"/>
            <a:ext cx="530352" cy="5303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13,931,925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475488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/ WEEK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832104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10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1F3A9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544" y="1572768"/>
            <a:ext cx="530352" cy="530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9536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$3.19</a:t>
            </a:r>
            <a:endParaRPr lang="en-US" sz="3200" dirty="0"/>
          </a:p>
        </p:txBody>
      </p:sp>
      <p:sp>
        <p:nvSpPr>
          <p:cNvPr id="19" name="Text 13"/>
          <p:cNvSpPr/>
          <p:nvPr/>
        </p:nvSpPr>
        <p:spPr>
          <a:xfrm>
            <a:off x="859536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CPM (4-WEEK)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40080" y="32461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32461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C8102E"/>
          </a:solidFill>
          <a:ln/>
        </p:spPr>
      </p:sp>
      <p:sp>
        <p:nvSpPr>
          <p:cNvPr id="22" name="Text 16"/>
          <p:cNvSpPr/>
          <p:nvPr/>
        </p:nvSpPr>
        <p:spPr>
          <a:xfrm>
            <a:off x="914400" y="33192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$-28,633</a:t>
            </a:r>
            <a:endParaRPr lang="en-US" sz="2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67912"/>
            <a:ext cx="3017520" cy="5280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43799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BUDGET LEFT TO SPEND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480560" y="3246120"/>
            <a:ext cx="74066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80560" y="32461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7B3FA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291840"/>
            <a:ext cx="2112264" cy="1508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86600" y="3374136"/>
            <a:ext cx="2331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27 Static Bulletins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 Digital Networks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1 Wallscape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20 King Buses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7086600" y="4416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MIX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9692640" y="33741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200" dirty="0"/>
          </a:p>
        </p:txBody>
      </p:sp>
      <p:sp>
        <p:nvSpPr>
          <p:cNvPr id="31" name="Text 23"/>
          <p:cNvSpPr/>
          <p:nvPr/>
        </p:nvSpPr>
        <p:spPr>
          <a:xfrm>
            <a:off x="9692640" y="4251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 HOLDINGS · 23 IN MARKET · 8 STARTING SOON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640080" y="5394960"/>
            <a:ext cx="10936224" cy="566928"/>
          </a:xfrm>
          <a:prstGeom prst="roundRect">
            <a:avLst>
              <a:gd name="adj" fmla="val 14516"/>
            </a:avLst>
          </a:prstGeom>
          <a:solidFill>
            <a:srgbClr val="FBE9EC"/>
          </a:solidFill>
          <a:ln/>
        </p:spPr>
      </p:sp>
      <p:sp>
        <p:nvSpPr>
          <p:cNvPr id="33" name="Text 25"/>
          <p:cNvSpPr/>
          <p:nvPr/>
        </p:nvSpPr>
        <p:spPr>
          <a:xfrm>
            <a:off x="896112" y="53949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0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FY26 OOH budget: $1,224,000    ·    FY26 ends 11/1/2026    ·    program buys draw down what was left to spend ($397,922)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TX114A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 Outdoor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7985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E/S of IH-35, 250 feet S/o Old Bastrop Road.    San Marcos, TX, S/F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8/3/2026 → 11/29/2026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1,931,923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5.6 mi — San Marcos 3 (scheduled 10/7/26)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$2,819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#189-3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Reiss Group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I-35 near Hwy 123 (MP 203.7), 408 Patricia Dr, San Marcos, TX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12'' x 40''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8/3/2026 → 11/29/2026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367,525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1.3 mi — West Hopkins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$3,090 / period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451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#71011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6967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W/S GUADALUPE @ NUECES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 x 40'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1/24/2027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107,361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1.4 mi — Hancock Center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$10,000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#352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Reagan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9668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306 I-35 N 0.18 mi N/O 1st St E (Loop 343) WS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7/6/2026 → 11/29/2026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1,790,665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1.5 mi — 7th Street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$20,735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Reagan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1666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10720 I-35 N 0.3 mi S/O Braker Ln E WS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10' x 40'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12/27/2026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727,696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1.3 mi — Lamar and Rundberg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$6,350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5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#9078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Reagan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162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RR 2222 500 ft E/O RR 620 SS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125,286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Four Points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$3,750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#9345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Reagan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10611 Research Blvd (US 183) 0.2 mi S/O Braker Ln W 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722,818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2.8 mi — Parmer and Mopac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$12,925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#9672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Reagan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1249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Hwy 290 W 1370 ft W/O West Gate Blvd NS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495,015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1.9 mi — Brodie Lane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$8,450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#504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Reagan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1666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11418 RR 2222 250 ft E/O FM 620 N NS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10/18/2026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341,814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Four Points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$5,830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#9073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Reagan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3118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8304 US 290 E 0.3 mi W/O Springdale Rd NS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East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9/14/2026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339,031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1.9 mi — Ed Bluestein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$3,860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5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#01-011A-1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Choice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13709 1/2 N, 250' N/O Howard Ln, Austin, TX, 78753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910,376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1.2 mi — Wells Branch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#1627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W/S IH-35 @ INNER SPACE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475,190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1.6 mi — Wolf Lakes Village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$5,850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5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#25151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N/S SH 29 1.35 MI W/O US 183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166,386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6.9 mi — Leander H-E-B plus!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$2,700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#1503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I-35 @ MM 265.2 IN GEORGETOWN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407,496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4 mi — Wolf Lakes Village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$4,050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TX90B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 Outdoor Media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1498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E/S of FM 1325, 550 ft E/o CR 172, N/F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 x 40'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353,822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1.8 mi — Louis Henna Blvd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$700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#1305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E/S US 183 N. 0.33 MI N/O RR 620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0" x 48'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230,021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3.3 mi — Spicewood Springs H-E-B (Closing on 7/31/26)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$4,050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#1616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06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BURNET RD E/S S/O HANCOCK DR.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0" x 48'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82,848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0.7 mi — Burnet Rd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$3,600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17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#1622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IH-35-E/S, 0.25 MI N/O HWY 183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0" x 48'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647,970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1.1 mi — Lamar and Rundberg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$5,400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45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#1267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W/S MANCHACA 1000' N/O SLAUGHTER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 0" x 36'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197,174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0.2 mi — Slaughter and Manchaca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$3,150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#1377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706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US 290 2.25 MI W/O HWY 71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West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12' 0" x 36' 0"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8/17/2026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160,519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1.5 mi — Oak Hill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$2,250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#9041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Reagan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1666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12200 Mo-Pac Expy N (Loop 1) 0.5 mi S/O Parmer Ln W (SR 734) WS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9/28/2026 → 11/1/2026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628,643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0.3 mi — Parmer and Mopac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$20,350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#9507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Reagan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4183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6428 I-35 S 500 ft N/O William Cannon WS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9/28/2026 → 12/20/2026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870,619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I 35 and William Cannon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$9,295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#203-8051L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Theon Properties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3663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IH-35 NB, 0.5 mi south of Ronald Reagan Blvd — SW corner IH-35 &amp; Ronald Reagan ("Sign No. 2" south face), 8360 I-35 frontage, Georgetown/Jarrell line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10/1/2026 → 9/30/2028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256,803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9.9 mi — Wolf Lakes Village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#207-101L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Beseda Properties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17365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US Hwy 183 SB @ East Sonny St — 709 Leander Dr / 101 E Sonny Dr, Leander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Left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11/1/2026 → 10/31/2029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132,435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Leander H-E-B plus!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$2,800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1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#207-101R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Beseda Properties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19024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US Hwy 183 NB @ East Sonny St — 709 Leander Dr / 101 E Sonny Dr, Leander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11/1/2026 → 10/31/2029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164,895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0.1 mi — Leander H-E-B plus!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$2,800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1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E199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Gunnarson Outdoor Advertising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565" y="1234440"/>
            <a:ext cx="3850871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IH-35, 1/4 mile south of Posey Road, MP 198.8 (E199RH — faces South, right-hand read)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South  ·  Read: RH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8' x 60'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10/1/2026 → 9/30/2027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381,000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2.7 mi — San Marcos 3 (scheduled 10/7/26)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$1,500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17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#203-8051R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Theon Properties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3663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IH-35 SB, 0.5 mi south of Ronald Reagan Blvd — SW corner IH-35 &amp; Ronald Reagan ("Sign No. 2" north face), 8360 I-35 frontage, Georgetown/Jarrell line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Face: North  ·  Read: Right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14x48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12/1/2026 → 11/30/2028  (Monthly)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256,803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9.9 mi — Wolf Lakes Village H-E-B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TROOH.UT.NOW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Trooh  ·  Place-Based - Digital Network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OOH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Austin · Austin - UT campus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9/4/2026 → 10/31/2026  (flight)  ·  1 period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371,014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1.5 mi — Hancock Center H-E-B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card: $14,841 / 4-week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$32,000 / period  ·  $32,000 contract total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TROOH.TXST.NOW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Trooh  ·  Place-Based - Digital Network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OOH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Austin · San Marcos - Texas State campus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9/8/2026 → 10/31/2026  (flight)  ·  1 period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208,696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0.5 mi — West Hopkins H-E-B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card: $8,348 / 4-week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$18,000 / period  ·  $18,000 contract total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4224528"/>
            <a:ext cx="3200400" cy="21326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ATX.SP104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Outdoor  ·  Spectacular - Wallscape (Static)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OOH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31375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Austin · Austin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10/19/2026 → 1/3/2027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80,081 / week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H-E-B: 1.3 mi — Parmer and Mopac H-E-B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card: $25,300 / 4-week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$15,000 / period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24528"/>
            <a:ext cx="3200400" cy="21326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8408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2-MILE AREA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784080" y="45262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pin = this panel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pills = H-E-B 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logos = blunting targets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ring = 2-mile radius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ATX Bus King (20)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Transit - Bus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OOH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577840" cy="20770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Austin · Austin metro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8/24/2026 → 12/27/2026  (4-week)  ·  4.5 periods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n/a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card: $810 / 4-week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$13,400 / period  ·  $60,300 contract total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Roams the CapMetro network — citywide Austin coverage (see Bus Routes on the region map)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Region · H-E-B OOH Current Holdings · 9/15/2026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2026-09-15T19:05:23Z</dcterms:created>
  <dcterms:modified xsi:type="dcterms:W3CDTF">2026-09-15T19:05:23Z</dcterms:modified>
</cp:coreProperties>
</file>