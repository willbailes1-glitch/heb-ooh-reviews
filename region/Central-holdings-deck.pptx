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image" Target="../media/image-5-2.jpe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image" Target="../media/image-6-2.jpe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image" Target="../media/image-7-2.jpe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jpe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image" Target="../media/image-9-2.jpe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image" Target="../media/image-10-2.jpe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image" Target="../media/image-11-2.jpe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image" Target="../media/image-12-2.jpe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image" Target="../media/image-13-2.jpe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eg"/><Relationship Id="rId2" Type="http://schemas.openxmlformats.org/officeDocument/2006/relationships/image" Target="../media/image-14-2.jpe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eg"/><Relationship Id="rId2" Type="http://schemas.openxmlformats.org/officeDocument/2006/relationships/image" Target="../media/image-15-2.jpe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eg"/><Relationship Id="rId2" Type="http://schemas.openxmlformats.org/officeDocument/2006/relationships/image" Target="../media/image-16-2.jpe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eg"/><Relationship Id="rId2" Type="http://schemas.openxmlformats.org/officeDocument/2006/relationships/image" Target="../media/image-17-2.jpe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eg"/><Relationship Id="rId2" Type="http://schemas.openxmlformats.org/officeDocument/2006/relationships/image" Target="../media/image-18-2.jpe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eg"/><Relationship Id="rId2" Type="http://schemas.openxmlformats.org/officeDocument/2006/relationships/image" Target="../media/image-19-2.jpe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eg"/><Relationship Id="rId2" Type="http://schemas.openxmlformats.org/officeDocument/2006/relationships/image" Target="../media/image-20-2.jpe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eg"/><Relationship Id="rId2" Type="http://schemas.openxmlformats.org/officeDocument/2006/relationships/image" Target="../media/image-21-2.jpe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eg"/><Relationship Id="rId2" Type="http://schemas.openxmlformats.org/officeDocument/2006/relationships/image" Target="../media/image-22-2.jpe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eg"/><Relationship Id="rId2" Type="http://schemas.openxmlformats.org/officeDocument/2006/relationships/image" Target="../media/image-23-2.jpe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eg"/><Relationship Id="rId2" Type="http://schemas.openxmlformats.org/officeDocument/2006/relationships/image" Target="../media/image-24-2.jpe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eg"/><Relationship Id="rId2" Type="http://schemas.openxmlformats.org/officeDocument/2006/relationships/image" Target="../media/image-25-2.jpe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eg"/><Relationship Id="rId2" Type="http://schemas.openxmlformats.org/officeDocument/2006/relationships/image" Target="../media/image-26-2.jpeg"/><Relationship Id="rId3" Type="http://schemas.openxmlformats.org/officeDocument/2006/relationships/image" Target="../media/image-2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eg"/><Relationship Id="rId2" Type="http://schemas.openxmlformats.org/officeDocument/2006/relationships/image" Target="../media/image-27-2.jpeg"/><Relationship Id="rId3" Type="http://schemas.openxmlformats.org/officeDocument/2006/relationships/image" Target="../media/image-2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eg"/><Relationship Id="rId2" Type="http://schemas.openxmlformats.org/officeDocument/2006/relationships/image" Target="../media/image-28-2.jpeg"/><Relationship Id="rId3" Type="http://schemas.openxmlformats.org/officeDocument/2006/relationships/image" Target="../media/image-2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e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810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868680"/>
            <a:ext cx="2468880" cy="80238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87452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</a:t>
            </a:r>
            <a:endParaRPr lang="en-US" sz="4400" dirty="0"/>
          </a:p>
        </p:txBody>
      </p:sp>
      <p:sp>
        <p:nvSpPr>
          <p:cNvPr id="4" name="Text 1"/>
          <p:cNvSpPr/>
          <p:nvPr/>
        </p:nvSpPr>
        <p:spPr>
          <a:xfrm>
            <a:off x="822960" y="278892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OOH Current Holdings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822960" y="36118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D9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contracted holdings · 3 in market now · prepared 8/11/2026 · H-E-B OOH Program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OOH Current Holdings Map</a:t>
            </a:r>
            <a:endParaRPr lang="en-US" sz="26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384048"/>
            <a:ext cx="1051560" cy="341757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" y="1051560"/>
            <a:ext cx="10972800" cy="5211192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640080" y="6399912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pin = in market now · Orange pin = starting soon · Purple pin = Unique OOH (wallscapes / transit) · Purple dashes = Bus Routes · Red pills = H-E-B stores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Costs &amp; Impressions — Central Region</a:t>
            </a:r>
            <a:endParaRPr lang="en-US" sz="28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429768"/>
            <a:ext cx="1051560" cy="341757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0080" y="1060704"/>
            <a:ext cx="10936224" cy="4572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5" name="Shape 2"/>
          <p:cNvSpPr/>
          <p:nvPr/>
        </p:nvSpPr>
        <p:spPr>
          <a:xfrm>
            <a:off x="640080" y="1417320"/>
            <a:ext cx="35661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0080" y="14173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2B2B2B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9584" y="1572768"/>
            <a:ext cx="530352" cy="53035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14400" y="1545336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$33,825</a:t>
            </a:r>
            <a:endParaRPr lang="en-US" sz="3200" dirty="0"/>
          </a:p>
        </p:txBody>
      </p:sp>
      <p:sp>
        <p:nvSpPr>
          <p:cNvPr id="9" name="Text 5"/>
          <p:cNvSpPr/>
          <p:nvPr/>
        </p:nvSpPr>
        <p:spPr>
          <a:xfrm>
            <a:off x="914400" y="255117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PERIOD COMMITTED (IN-MARKET)</a:t>
            </a:r>
            <a:endParaRPr lang="en-US" sz="950" dirty="0"/>
          </a:p>
        </p:txBody>
      </p:sp>
      <p:sp>
        <p:nvSpPr>
          <p:cNvPr id="10" name="Shape 6"/>
          <p:cNvSpPr/>
          <p:nvPr/>
        </p:nvSpPr>
        <p:spPr>
          <a:xfrm>
            <a:off x="4480560" y="1417320"/>
            <a:ext cx="35661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480560" y="14173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1F3A93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0064" y="1572768"/>
            <a:ext cx="530352" cy="53035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754880" y="1545336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3A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10,782,489</a:t>
            </a:r>
            <a:endParaRPr lang="en-US" sz="3200" dirty="0"/>
          </a:p>
        </p:txBody>
      </p:sp>
      <p:sp>
        <p:nvSpPr>
          <p:cNvPr id="14" name="Text 9"/>
          <p:cNvSpPr/>
          <p:nvPr/>
        </p:nvSpPr>
        <p:spPr>
          <a:xfrm>
            <a:off x="4754880" y="255117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 / WEEK</a:t>
            </a:r>
            <a:endParaRPr lang="en-US" sz="950" dirty="0"/>
          </a:p>
        </p:txBody>
      </p:sp>
      <p:sp>
        <p:nvSpPr>
          <p:cNvPr id="15" name="Shape 10"/>
          <p:cNvSpPr/>
          <p:nvPr/>
        </p:nvSpPr>
        <p:spPr>
          <a:xfrm>
            <a:off x="8321040" y="1417320"/>
            <a:ext cx="35661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8321040" y="14173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1F3A93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10544" y="1572768"/>
            <a:ext cx="530352" cy="530352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8595360" y="1545336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3A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$0.78</a:t>
            </a:r>
            <a:endParaRPr lang="en-US" sz="3200" dirty="0"/>
          </a:p>
        </p:txBody>
      </p:sp>
      <p:sp>
        <p:nvSpPr>
          <p:cNvPr id="19" name="Text 13"/>
          <p:cNvSpPr/>
          <p:nvPr/>
        </p:nvSpPr>
        <p:spPr>
          <a:xfrm>
            <a:off x="8595360" y="255117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EFFECTIVE CPM (4-WEEK)</a:t>
            </a:r>
            <a:endParaRPr lang="en-US" sz="950" dirty="0"/>
          </a:p>
        </p:txBody>
      </p:sp>
      <p:sp>
        <p:nvSpPr>
          <p:cNvPr id="20" name="Shape 14"/>
          <p:cNvSpPr/>
          <p:nvPr/>
        </p:nvSpPr>
        <p:spPr>
          <a:xfrm>
            <a:off x="640080" y="3246120"/>
            <a:ext cx="35661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640080" y="32461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1E7B34"/>
          </a:solidFill>
          <a:ln/>
        </p:spPr>
      </p:sp>
      <p:sp>
        <p:nvSpPr>
          <p:cNvPr id="22" name="Text 16"/>
          <p:cNvSpPr/>
          <p:nvPr/>
        </p:nvSpPr>
        <p:spPr>
          <a:xfrm>
            <a:off x="914400" y="3319272"/>
            <a:ext cx="3154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$82,544</a:t>
            </a:r>
            <a:endParaRPr lang="en-US" sz="2800" dirty="0"/>
          </a:p>
        </p:txBody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3867912"/>
            <a:ext cx="3017520" cy="528066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914400" y="437997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FY26 BUDGET LEFT TO SPEND</a:t>
            </a:r>
            <a:endParaRPr lang="en-US" sz="950" dirty="0"/>
          </a:p>
        </p:txBody>
      </p:sp>
      <p:sp>
        <p:nvSpPr>
          <p:cNvPr id="25" name="Shape 18"/>
          <p:cNvSpPr/>
          <p:nvPr/>
        </p:nvSpPr>
        <p:spPr>
          <a:xfrm>
            <a:off x="4480560" y="3246120"/>
            <a:ext cx="740664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4480560" y="32461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7B3FA0"/>
          </a:solidFill>
          <a:ln/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36592" y="3291840"/>
            <a:ext cx="2112264" cy="150876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7086600" y="3374136"/>
            <a:ext cx="233172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24 Static Bulletins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1 Wallscape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20 King Buses</a:t>
            </a:r>
            <a:endParaRPr lang="en-US" sz="1300" dirty="0"/>
          </a:p>
        </p:txBody>
      </p:sp>
      <p:sp>
        <p:nvSpPr>
          <p:cNvPr id="29" name="Text 21"/>
          <p:cNvSpPr/>
          <p:nvPr/>
        </p:nvSpPr>
        <p:spPr>
          <a:xfrm>
            <a:off x="7086600" y="4416552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 MIX</a:t>
            </a:r>
            <a:endParaRPr lang="en-US" sz="950" dirty="0"/>
          </a:p>
        </p:txBody>
      </p:sp>
      <p:sp>
        <p:nvSpPr>
          <p:cNvPr id="30" name="Text 22"/>
          <p:cNvSpPr/>
          <p:nvPr/>
        </p:nvSpPr>
        <p:spPr>
          <a:xfrm>
            <a:off x="9692640" y="3374136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3200" dirty="0"/>
          </a:p>
        </p:txBody>
      </p:sp>
      <p:sp>
        <p:nvSpPr>
          <p:cNvPr id="31" name="Text 23"/>
          <p:cNvSpPr/>
          <p:nvPr/>
        </p:nvSpPr>
        <p:spPr>
          <a:xfrm>
            <a:off x="9692640" y="425196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CONTRACTED HOLDINGS · 3 IN MARKET · 23 STARTING SOON</a:t>
            </a:r>
            <a:endParaRPr lang="en-US" sz="950" dirty="0"/>
          </a:p>
        </p:txBody>
      </p:sp>
      <p:sp>
        <p:nvSpPr>
          <p:cNvPr id="32" name="Shape 24"/>
          <p:cNvSpPr/>
          <p:nvPr/>
        </p:nvSpPr>
        <p:spPr>
          <a:xfrm>
            <a:off x="640080" y="5394960"/>
            <a:ext cx="10936224" cy="566928"/>
          </a:xfrm>
          <a:prstGeom prst="roundRect">
            <a:avLst>
              <a:gd name="adj" fmla="val 14516"/>
            </a:avLst>
          </a:prstGeom>
          <a:solidFill>
            <a:srgbClr val="FBE9EC"/>
          </a:solidFill>
          <a:ln/>
        </p:spPr>
      </p:sp>
      <p:sp>
        <p:nvSpPr>
          <p:cNvPr id="33" name="Text 25"/>
          <p:cNvSpPr/>
          <p:nvPr/>
        </p:nvSpPr>
        <p:spPr>
          <a:xfrm>
            <a:off x="896112" y="5394960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A0A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FY26 OOH budget: $1,224,000    ·    FY26 ends 11/1/2026    ·    program buys draw down what was left to spend ($397,922)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#189-3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Reiss Group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I-35 near Hwy 123 (MP 203.7), 408 Patricia Dr, San Marcos, TX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12'' x 40''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8/3/2026 → 11/29/2026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367,525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0.9 mi — San Marcos 3 (scheduled 10/7/26)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$3,090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4513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8/11/2026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#71011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269678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W/S GUADALUPE @ NUECES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12' x 40'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1/24/2027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107,361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1.4 mi — Hancock Center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$10,000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8/11/2026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#352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29668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306 I-35 N 0.18 mi N/O 1st St E (Loop 343) WS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11/29/2026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1,790,665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1.5 mi — 7th Street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$20,735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8/11/2026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#134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16667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10720 I-35 N 0.3 mi S/O Braker Ln E WS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10' x 40'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12/27/2026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727,696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1.3 mi — Lamar and Rundberg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$6,350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50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8/11/2026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#9078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1623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RR 2222 500 ft E/O RR 620 SS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125,286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Four Points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$3,750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8/11/2026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#9345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10611 Research Blvd (US 183) 0.2 mi S/O Braker Ln W ES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722,818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North Hills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$12,925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8/11/2026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#9672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12493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Hwy 290 W 1370 ft W/O West Gate Blvd NS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495,015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1.9 mi — Brodie Lane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$8,450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8/11/2026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#504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16667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11418 RR 2222 250 ft E/O FM 620 N NS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10/18/2026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341,814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Four Points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$5,830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8/11/2026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#9041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16667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12200 Mo-Pac Expy N (Loop 1) 0.5 mi S/O Parmer Ln W (SR 734) WS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9/28/2026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628,643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0.3 mi — Parmer and Mopac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$20,350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8/11/2026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#9073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31184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8304 US 290 E 0.3 mi W/O Springdale Rd NS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9/14/2026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339,031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1.9 mi — Ed Bluestein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$3,860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50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8/11/2026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#9507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6428 I-35 S 500 ft N/O William Cannon WS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9/28/2026 → 12/20/2026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870,619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I 35 and William Cannon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$9,295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8/11/2026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#01-011A-1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Choice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13709 1/2 N, 250' N/O Howard Ln, Austin, TX, 78753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910,376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1.2 mi — Wells Branch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$5,000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8/11/2026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#1627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W/S IH-35 @ INNER SPACE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475,190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1.6 mi — Wolf Lakes Village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$5,850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50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8/11/2026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#25151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N/S SH 29 1.35 MI W/O US 183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166,386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4.5 mi — H-E-B At Ronald Reagan Blvd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$2,700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8/11/2026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#1503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I-35 @ MM 265.2 IN GEORGETOWN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407,496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4 mi — Wolf Lakes Village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$4,050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8/11/2026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TX90B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MH Outdoor Media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14983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E/S of FM 1325, 550 ft E/o CR 172, N/F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12' x 40'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353,822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1.8 mi — Louis Henna Blvd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$700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8/11/2026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#1305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E/S US 183 N. 0.33 MI N/O RR 620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0" x 48'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230,021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Lakeline H-E-B plus!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$4,050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8/11/2026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#1616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0616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BURNET RD E/S S/O HANCOCK DR.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0" x 48'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82,848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0.7 mi — Burnet Rd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$3,600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1783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8/11/2026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#1622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IH-35-E/S, 0.25 MI N/O HWY 183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0" x 48'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647,970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1.1 mi — Lamar and Rundberg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$5,400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50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8/11/2026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#1267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W/S MANCHACA 1000' N/O SLAUGHTER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12' 0" x 36'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197,174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0.2 mi — Slaughter and Manchaca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$3,150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8/11/2026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#1377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0616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US 290 2.25 MI W/O HWY 71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12' 0" x 36'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160,519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1.5 mi — Oak Hill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$2,250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8/11/2026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#203-8051L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Theon Properties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23663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IH-35 NB, 0.5 mi south of Ronald Reagan Blvd — SW corner IH-35 &amp; Ronald Reagan ("Sign No. 2"), 8360 I-35 frontage, Georgetown/Jarrell line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14x48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10/1/2026 → 9/30/2028  (Monthly)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256,803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8.4 mi — Parmer Ranch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$1,000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8/11/2026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#207-101L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Beseda Properties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173657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US Hwy 183 SB @ East Sonny St — 709 Leander Dr / 101 E Sonny Dr, Leander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14x48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11/1/2026 → 10/31/2029  (monthly)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132,435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Leander H-E-B plus!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$2,800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1787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8/11/2026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#207-101R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Beseda Properties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190244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US Hwy 183 NB @ East Sonny St — 709 Leander Dr / 101 E Sonny Dr, Leander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14x48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11/1/2026 → 10/31/2029  (monthly)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164,895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Leander H-E-B plus!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$2,800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1787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8/11/2026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ATX.SP104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 Outdoor  ·  Spectacular - Wallscape (Static)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7B3FA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OOH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13753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Austin · Austin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10/19/2026 → 1/3/2027  (4-week)  ·  2.75 periods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80,081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1.3 mi — Parmer and Mopac H-E-B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card: $25,300 / 4-week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$15,000 / period  ·  $41,250 contract total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8/11/2026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ATX Bus King (20)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Transit - Bus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7B3FA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OOH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207706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Austin · Austin metro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12/27/2026  (4-week)  ·  4.5 periods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n/a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card: $810 / 4-week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$13,400 / period  ·  $60,300 contract total</a:t>
            </a: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Roams the CapMetro network — citywide Austin coverage (see Bus Routes on the region map)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8/11/2026</a:t>
            </a:r>
            <a:endParaRPr lang="en-US" sz="10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2026-08-11T21:34:32Z</dcterms:created>
  <dcterms:modified xsi:type="dcterms:W3CDTF">2026-08-11T21:34:32Z</dcterms:modified>
</cp:coreProperties>
</file>